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c2eaf273ea64925" /><Relationship Type="http://schemas.openxmlformats.org/officeDocument/2006/relationships/extended-properties" Target="/docProps/app.xml" Id="R9410674547f94d65" /><Relationship Type="http://schemas.openxmlformats.org/officeDocument/2006/relationships/officeDocument" Target="/ppt/presentation.xml" Id="Rd2b60688efa3445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666cd1fd67e4613"/>
  </p:sldMasterIdLst>
  <p:notesMasterIdLst>
    <p:notesMasterId xmlns:r="http://schemas.openxmlformats.org/officeDocument/2006/relationships" r:id="R783f1477f2ef4f3c"/>
  </p:notesMasterIdLst>
  <p:sldIdLst>
    <p:sldId xmlns:r="http://schemas.openxmlformats.org/officeDocument/2006/relationships" id="256" r:id="R349fe123df1c4e67"/>
    <p:sldId xmlns:r="http://schemas.openxmlformats.org/officeDocument/2006/relationships" id="257" r:id="R30395a79470a459d"/>
    <p:sldId xmlns:r="http://schemas.openxmlformats.org/officeDocument/2006/relationships" id="258" r:id="Rc033438a39fa43a2"/>
    <p:sldId xmlns:r="http://schemas.openxmlformats.org/officeDocument/2006/relationships" id="259" r:id="Rf9c880d792844895"/>
    <p:sldId xmlns:r="http://schemas.openxmlformats.org/officeDocument/2006/relationships" id="260" r:id="R6e7202f0b7884ede"/>
    <p:sldId xmlns:r="http://schemas.openxmlformats.org/officeDocument/2006/relationships" id="261" r:id="Rec3abb0bca4047ad"/>
    <p:sldId xmlns:r="http://schemas.openxmlformats.org/officeDocument/2006/relationships" id="262" r:id="R0790b85a186a4ee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bc7253643b948f2" /><Relationship Type="http://schemas.openxmlformats.org/officeDocument/2006/relationships/slideMaster" Target="/ppt/slideMasters/slideMaster1.xml" Id="Rf666cd1fd67e4613" /><Relationship Type="http://schemas.openxmlformats.org/officeDocument/2006/relationships/notesMaster" Target="/ppt/notesMasters/notesMaster1.xml" Id="R783f1477f2ef4f3c" /><Relationship Type="http://schemas.openxmlformats.org/officeDocument/2006/relationships/presProps" Target="/ppt/presProps.xml" Id="Rfa9a0dd55efd41d6" /><Relationship Type="http://schemas.openxmlformats.org/officeDocument/2006/relationships/tableStyles" Target="/ppt/tableStyles.xml" Id="Rc19f68df4e8c4a54" /><Relationship Type="http://schemas.openxmlformats.org/officeDocument/2006/relationships/slide" Target="/ppt/slides/slide1.xml" Id="R349fe123df1c4e67" /><Relationship Type="http://schemas.openxmlformats.org/officeDocument/2006/relationships/slide" Target="/ppt/slides/slide2.xml" Id="R30395a79470a459d" /><Relationship Type="http://schemas.openxmlformats.org/officeDocument/2006/relationships/slide" Target="/ppt/slides/slide3.xml" Id="Rc033438a39fa43a2" /><Relationship Type="http://schemas.openxmlformats.org/officeDocument/2006/relationships/slide" Target="/ppt/slides/slide4.xml" Id="Rf9c880d792844895" /><Relationship Type="http://schemas.openxmlformats.org/officeDocument/2006/relationships/slide" Target="/ppt/slides/slide5.xml" Id="R6e7202f0b7884ede" /><Relationship Type="http://schemas.openxmlformats.org/officeDocument/2006/relationships/slide" Target="/ppt/slides/slide6.xml" Id="Rec3abb0bca4047ad" /><Relationship Type="http://schemas.openxmlformats.org/officeDocument/2006/relationships/slide" Target="/ppt/slides/slide7.xml" Id="R0790b85a186a4ee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8d879ae5e54481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851cf9b3d8c4755" /><Relationship Type="http://schemas.openxmlformats.org/officeDocument/2006/relationships/notesMaster" Target="/ppt/notesMasters/notesMaster1.xml" Id="R0b63f63310d248c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9caa5c9dd154406" /><Relationship Type="http://schemas.openxmlformats.org/officeDocument/2006/relationships/notesMaster" Target="/ppt/notesMasters/notesMaster1.xml" Id="Ra397dad67ddc4ff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49d13cb44af4298" /><Relationship Type="http://schemas.openxmlformats.org/officeDocument/2006/relationships/notesMaster" Target="/ppt/notesMasters/notesMaster1.xml" Id="Ra87f1756a700420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6746b0dca1142c1" /><Relationship Type="http://schemas.openxmlformats.org/officeDocument/2006/relationships/notesMaster" Target="/ppt/notesMasters/notesMaster1.xml" Id="R05490888742b4d8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e41ac31ad7c48e9" /><Relationship Type="http://schemas.openxmlformats.org/officeDocument/2006/relationships/notesMaster" Target="/ppt/notesMasters/notesMaster1.xml" Id="R508661498ed34f0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481fb711e654b5c" /><Relationship Type="http://schemas.openxmlformats.org/officeDocument/2006/relationships/notesMaster" Target="/ppt/notesMasters/notesMaster1.xml" Id="R04dc846909ab45f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0c8adabb79d41f6" /><Relationship Type="http://schemas.openxmlformats.org/officeDocument/2006/relationships/notesMaster" Target="/ppt/notesMasters/notesMaster1.xml" Id="R6a6bd44f45804bf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 trading-agent demos optimize for activity. We designed for accountability, including the ability to WAIT.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https://lablab.ai/ai-hackathons/alpaca-ai-trading-agents-hackathon</a:t>
            </a:r>
          </a:p>
          <a:p xmlns:a="http://schemas.openxmlformats.org/drawingml/2006/main">
            <a:r>
              <a:t>- Local generated cover: public/assets/ipulse-options-alpha-agent-cover.png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If judges cannot reconstruct the evidence, dissent, vetoes, and broker result, autonomy is indistinguishable from unattended execution.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source: docs/judge_one_pager.md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Advisors may CALL, PUT, WAIT, or ABSTAIN. Missing evidence never becomes a guess, and no advisor owns execution authority.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source: src/ipulse_options_alpha_agent/advisors.py</a:t>
            </a:r>
          </a:p>
          <a:p xmlns:a="http://schemas.openxmlformats.org/drawingml/2006/main">
            <a:r>
              <a:t>- Local source: src/ipulse_options_alpha_agent/consensus.py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 advisor or language model can bypass these rules. A failed check returns WAIT or REJECT; it never changes order type, size, or environment.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source: src/ipulse_options_alpha_agent/safety.py</a:t>
            </a:r>
          </a:p>
          <a:p xmlns:a="http://schemas.openxmlformats.org/drawingml/2006/main">
            <a:r>
              <a:t>- Local source: src/ipulse_options_alpha_agent/risk.py</a:t>
            </a:r>
          </a:p>
          <a:p xmlns:a="http://schemas.openxmlformats.org/drawingml/2006/main">
            <a:r>
              <a:t>- Local source: src/ipulse_options_alpha_agent/execution.py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dedicated account began with $100,000, active status, options level 3, and no positions or fills. The raw account ID belongs only in the private judging field.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sanitized source: artifacts/competition/performance.jsonl</a:t>
            </a:r>
          </a:p>
          <a:p xmlns:a="http://schemas.openxmlformats.org/drawingml/2006/main">
            <a:r>
              <a:t>- https://docs.alpaca.markets/docs/paper-trading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was the desired result. The system preserved all advisor views and vetoes instead of forcing activity for a demo.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source: artifacts/decisions/advisor_market_evidence.jsonl</a:t>
            </a:r>
          </a:p>
          <a:p xmlns:a="http://schemas.openxmlformats.org/drawingml/2006/main">
            <a:r>
              <a:t>- Local source: public/index.html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on the inspection path: code, dashboard, evidence, and final paper scorecard. Short paper performance does not predict live returns.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https://github.com/alpacahq/alpaca-mcp-server</a:t>
            </a:r>
          </a:p>
          <a:p xmlns:a="http://schemas.openxmlformats.org/drawingml/2006/main">
            <a:r>
              <a:t>- Local source: docs/judge_one_pager.md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e81f0949784d1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a6041dd2dae4416" /><Relationship Type="http://schemas.openxmlformats.org/officeDocument/2006/relationships/slideLayout" Target="/ppt/slideLayouts/slideLayout1.xml" Id="R2e91445c2ff44af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e91445c2ff44af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5c04658d924814" /><Relationship Type="http://schemas.openxmlformats.org/officeDocument/2006/relationships/image" Target="/ppt/media/image.png" Id="Rc2c0950d873c4bf8" /><Relationship Type="http://schemas.openxmlformats.org/officeDocument/2006/relationships/notesSlide" Target="/ppt/notesSlides/notesSlide1.xml" Id="Rf184eee6501a45f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38877ae0574238" /><Relationship Type="http://schemas.openxmlformats.org/officeDocument/2006/relationships/notesSlide" Target="/ppt/notesSlides/notesSlide2.xml" Id="Rb77bd016bd7f482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68fc3adb644626" /><Relationship Type="http://schemas.openxmlformats.org/officeDocument/2006/relationships/notesSlide" Target="/ppt/notesSlides/notesSlide3.xml" Id="R1d945668ea3d40a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4c83febe4840ba" /><Relationship Type="http://schemas.openxmlformats.org/officeDocument/2006/relationships/notesSlide" Target="/ppt/notesSlides/notesSlide4.xml" Id="Rc2c0b04140b84a5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43975727504669" /><Relationship Type="http://schemas.openxmlformats.org/officeDocument/2006/relationships/notesSlide" Target="/ppt/notesSlides/notesSlide5.xml" Id="R173870412834451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a40fcb332e4802" /><Relationship Type="http://schemas.openxmlformats.org/officeDocument/2006/relationships/notesSlide" Target="/ppt/notesSlides/notesSlide6.xml" Id="R9543254653ff45f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e75fa213994af2" /><Relationship Type="http://schemas.openxmlformats.org/officeDocument/2006/relationships/notesSlide" Target="/ppt/notesSlides/notesSlide7.xml" Id="R29adc0013413430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c0950d873c4bf8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2971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eyebrow-2">
            <a:extLst xmlns:a="http://schemas.openxmlformats.org/drawingml/2006/main">
              <a:ext uri="{FF2B5EF4-FFF2-40B4-BE49-F238E27FC236}">
                <a16:creationId xmlns:a16="http://schemas.microsoft.com/office/drawing/2014/main" id="{B2B19F52-4FE5-4182-81C8-EA579F98C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77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277D8"/>
                </a:solidFill>
                <a:latin typeface="Helvetica Neue"/>
                <a:ea typeface="Helvetica Neue"/>
                <a:cs typeface="Helvetica Neue"/>
              </a:rPr>
              <a:t>IPULSE AI OPTIONS ALPHA AGENT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4E294260-45EB-4CE5-B5DB-5F579E7BD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1125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A trade is not proof of intelligence</a:t>
            </a:r>
          </a:p>
        </p:txBody>
      </p:sp>
      <p:sp>
        <p:nvSpPr>
          <p:cNvPr id="3" name="box">
            <a:extLst xmlns:a="http://schemas.openxmlformats.org/drawingml/2006/main">
              <a:ext uri="{FF2B5EF4-FFF2-40B4-BE49-F238E27FC236}">
                <a16:creationId xmlns:a16="http://schemas.microsoft.com/office/drawing/2014/main" id="{0E5E1F6F-200F-452C-9DEE-428DBA45E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111252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8C4CC"/>
          </a:solidFill>
          <a:ln xmlns:a="http://schemas.openxmlformats.org/drawingml/2006/main" w="0">
            <a:solidFill>
              <a:srgbClr val="B8C4CC"/>
            </a:solidFill>
            <a:prstDash val="solid"/>
          </a:ln>
        </p:spPr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52C9292D-3755-4EA9-9673-F4E1E78DB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74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483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4939A93-8BD9-40C0-AB0C-4FC1D2FB7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717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95C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D95C5C"/>
                </a:solidFill>
                <a:latin typeface="Helvetica Neue"/>
                <a:ea typeface="Helvetica Neue"/>
                <a:cs typeface="Helvetica Neue"/>
              </a:rPr>
              <a:t>BLACK BOX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5C654FB-FFE5-49B5-9227-99364CD06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14625"/>
            <a:ext cx="3429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Signal</a:t>
            </a:r>
          </a:p>
          <a:p xmlns:a="http://schemas.openxmlformats.org/drawingml/2006/main">
            <a:pPr algn="l">
              <a:defRPr sz="3000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Order</a:t>
            </a:r>
          </a:p>
          <a:p xmlns:a="http://schemas.openxmlformats.org/drawingml/2006/main">
            <a:pPr algn="l">
              <a:defRPr sz="3000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Outcome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5BB0707-B8E9-47C9-B850-EF2DB2C57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0"/>
            <a:ext cx="4000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6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66673"/>
                </a:solidFill>
                <a:latin typeface="Helvetica Neue"/>
                <a:ea typeface="Helvetica Neue"/>
                <a:cs typeface="Helvetica Neue"/>
              </a:rPr>
              <a:t>No visible evidence.</a:t>
            </a:r>
          </a:p>
          <a:p xmlns:a="http://schemas.openxmlformats.org/drawingml/2006/main">
            <a:pPr algn="l">
              <a:defRPr sz="1650" b="0">
                <a:solidFill>
                  <a:srgbClr val="56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66673"/>
                </a:solidFill>
                <a:latin typeface="Helvetica Neue"/>
                <a:ea typeface="Helvetica Neue"/>
                <a:cs typeface="Helvetica Neue"/>
              </a:rPr>
              <a:t>No preserved dissent.</a:t>
            </a:r>
          </a:p>
          <a:p xmlns:a="http://schemas.openxmlformats.org/drawingml/2006/main">
            <a:pPr algn="l">
              <a:defRPr sz="1650" b="0">
                <a:solidFill>
                  <a:srgbClr val="56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66673"/>
                </a:solidFill>
                <a:latin typeface="Helvetica Neue"/>
                <a:ea typeface="Helvetica Neue"/>
                <a:cs typeface="Helvetica Neue"/>
              </a:rPr>
              <a:t>No reason for refusal.</a:t>
            </a:r>
          </a:p>
        </p:txBody>
      </p:sp>
      <p:sp>
        <p:nvSpPr>
          <p:cNvPr id="8" name="box">
            <a:extLst xmlns:a="http://schemas.openxmlformats.org/drawingml/2006/main">
              <a:ext uri="{FF2B5EF4-FFF2-40B4-BE49-F238E27FC236}">
                <a16:creationId xmlns:a16="http://schemas.microsoft.com/office/drawing/2014/main" id="{6231ADCC-8F5D-4027-8E47-4BD54C45C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019300"/>
            <a:ext cx="38100" cy="3810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8C4CC"/>
          </a:solidFill>
          <a:ln xmlns:a="http://schemas.openxmlformats.org/drawingml/2006/main" w="0">
            <a:solidFill>
              <a:srgbClr val="B8C4CC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17C6C632-5666-4120-AAE2-0AC6D768D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1717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B8A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B8A62"/>
                </a:solidFill>
                <a:latin typeface="Helvetica Neue"/>
                <a:ea typeface="Helvetica Neue"/>
                <a:cs typeface="Helvetica Neue"/>
              </a:rPr>
              <a:t>INSPECTABLE AGENT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46A9C43-D0FA-4B55-95B8-E5E3B5175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714625"/>
            <a:ext cx="4953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Evidence</a:t>
            </a:r>
          </a:p>
          <a:p xmlns:a="http://schemas.openxmlformats.org/drawingml/2006/main">
            <a:pPr algn="l">
              <a:defRPr sz="2550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Disagreement</a:t>
            </a:r>
          </a:p>
          <a:p xmlns:a="http://schemas.openxmlformats.org/drawingml/2006/main">
            <a:pPr algn="l">
              <a:defRPr sz="2550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Risk decision</a:t>
            </a:r>
          </a:p>
          <a:p xmlns:a="http://schemas.openxmlformats.org/drawingml/2006/main">
            <a:pPr algn="l">
              <a:defRPr sz="2550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Broker receipt</a:t>
            </a:r>
          </a:p>
        </p:txBody>
      </p:sp>
      <p:sp>
        <p:nvSpPr>
          <p:cNvPr id="11" name="box">
            <a:extLst xmlns:a="http://schemas.openxmlformats.org/drawingml/2006/main">
              <a:ext uri="{FF2B5EF4-FFF2-40B4-BE49-F238E27FC236}">
                <a16:creationId xmlns:a16="http://schemas.microsoft.com/office/drawing/2014/main" id="{CCC64AF1-17DE-4C0D-B268-B07AF2BAF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19700"/>
            <a:ext cx="51435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52D6FF"/>
          </a:solidFill>
          <a:ln xmlns:a="http://schemas.openxmlformats.org/drawingml/2006/main" w="0">
            <a:solidFill>
              <a:srgbClr val="52D6FF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BE727519-A5F3-41C4-B793-3AD695099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343525"/>
            <a:ext cx="4714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WAIT and REJECT are evidence, too.</a:t>
            </a:r>
          </a:p>
        </p:txBody>
      </p:sp>
    </p:spTree>
    <p:extLst>
      <p:ext uri="{BB962C8B-B14F-4D97-AF65-F5344CB8AC3E}">
        <p14:creationId xmlns:p14="http://schemas.microsoft.com/office/powerpoint/2010/main" val="182008160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eyebrow-3">
            <a:extLst xmlns:a="http://schemas.openxmlformats.org/drawingml/2006/main">
              <a:ext uri="{FF2B5EF4-FFF2-40B4-BE49-F238E27FC236}">
                <a16:creationId xmlns:a16="http://schemas.microsoft.com/office/drawing/2014/main" id="{33F7A3E9-9204-412F-AD9C-AA162A57E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77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277D8"/>
                </a:solidFill>
                <a:latin typeface="Helvetica Neue"/>
                <a:ea typeface="Helvetica Neue"/>
                <a:cs typeface="Helvetica Neue"/>
              </a:rPr>
              <a:t>IPULSE AI OPTIONS ALPHA AGENT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158C8261-CD63-4EF6-9581-434BA8E5C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1125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Never let one AI own the conclusion</a:t>
            </a:r>
          </a:p>
        </p:txBody>
      </p:sp>
      <p:sp>
        <p:nvSpPr>
          <p:cNvPr id="3" name="box">
            <a:extLst xmlns:a="http://schemas.openxmlformats.org/drawingml/2006/main">
              <a:ext uri="{FF2B5EF4-FFF2-40B4-BE49-F238E27FC236}">
                <a16:creationId xmlns:a16="http://schemas.microsoft.com/office/drawing/2014/main" id="{555520EB-28BC-4EAF-8398-97EAF76A5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111252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8C4CC"/>
          </a:solidFill>
          <a:ln xmlns:a="http://schemas.openxmlformats.org/drawingml/2006/main" w="0">
            <a:solidFill>
              <a:srgbClr val="B8C4CC"/>
            </a:solidFill>
            <a:prstDash val="solid"/>
          </a:ln>
        </p:spPr>
      </p: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F63C3E6C-2B0B-447C-9A08-6DEC4EEBD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74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483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5CED1EE-FB66-47F3-824A-B2E350882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52625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77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277D8"/>
                </a:solidFill>
                <a:latin typeface="Helvetica Neue"/>
                <a:ea typeface="Helvetica Neue"/>
                <a:cs typeface="Helvetica Neue"/>
              </a:rPr>
              <a:t>PROBABILISTIC RESEARCH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E3B8521-E78B-4A3B-87BF-F045A6FB0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77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277D8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D6D419F-4DCD-4159-9EE0-D700DA355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86025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Technical regime</a:t>
            </a:r>
          </a:p>
        </p:txBody>
      </p:sp>
      <p:sp>
        <p:nvSpPr>
          <p:cNvPr id="8" name="box">
            <a:extLst xmlns:a="http://schemas.openxmlformats.org/drawingml/2006/main">
              <a:ext uri="{FF2B5EF4-FFF2-40B4-BE49-F238E27FC236}">
                <a16:creationId xmlns:a16="http://schemas.microsoft.com/office/drawing/2014/main" id="{305A3F90-B92E-4471-AB06-B1D5F1A72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62275"/>
            <a:ext cx="38862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4F7"/>
          </a:solidFill>
          <a:ln xmlns:a="http://schemas.openxmlformats.org/drawingml/2006/main" w="0">
            <a:solidFill>
              <a:srgbClr val="EDF4F7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E5381920-697B-4404-835D-3657E8F16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05175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77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277D8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1E14AD0-0707-450B-BDF5-E64177262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67075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News catalyst</a:t>
            </a:r>
          </a:p>
        </p:txBody>
      </p:sp>
      <p:sp>
        <p:nvSpPr>
          <p:cNvPr id="11" name="box">
            <a:extLst xmlns:a="http://schemas.openxmlformats.org/drawingml/2006/main">
              <a:ext uri="{FF2B5EF4-FFF2-40B4-BE49-F238E27FC236}">
                <a16:creationId xmlns:a16="http://schemas.microsoft.com/office/drawing/2014/main" id="{514F7D90-5A8A-4855-9277-675392E2A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43325"/>
            <a:ext cx="38862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4F7"/>
          </a:solidFill>
          <a:ln xmlns:a="http://schemas.openxmlformats.org/drawingml/2006/main" w="0">
            <a:solidFill>
              <a:srgbClr val="EDF4F7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577208A6-7E15-4622-9848-040FE07A1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77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277D8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491C8E92-09A8-465A-98F7-ABB95206A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48125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Options liquidity</a:t>
            </a:r>
          </a:p>
        </p:txBody>
      </p:sp>
      <p:sp>
        <p:nvSpPr>
          <p:cNvPr id="14" name="box">
            <a:extLst xmlns:a="http://schemas.openxmlformats.org/drawingml/2006/main">
              <a:ext uri="{FF2B5EF4-FFF2-40B4-BE49-F238E27FC236}">
                <a16:creationId xmlns:a16="http://schemas.microsoft.com/office/drawing/2014/main" id="{98EF9102-A827-4443-B33A-1357ED939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38862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4F7"/>
          </a:solidFill>
          <a:ln xmlns:a="http://schemas.openxmlformats.org/drawingml/2006/main" w="0">
            <a:solidFill>
              <a:srgbClr val="EDF4F7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E87EF323-5F27-4228-AEE0-B2ED83163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524125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77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277D8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3FB16EDA-2278-465D-9687-4FE09465C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486025"/>
            <a:ext cx="361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Financials auditor</a:t>
            </a:r>
          </a:p>
        </p:txBody>
      </p:sp>
      <p:sp>
        <p:nvSpPr>
          <p:cNvPr id="17" name="box">
            <a:extLst xmlns:a="http://schemas.openxmlformats.org/drawingml/2006/main">
              <a:ext uri="{FF2B5EF4-FFF2-40B4-BE49-F238E27FC236}">
                <a16:creationId xmlns:a16="http://schemas.microsoft.com/office/drawing/2014/main" id="{462E6366-7643-41CE-B6FD-A8674C181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962275"/>
            <a:ext cx="40767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4F7"/>
          </a:solidFill>
          <a:ln xmlns:a="http://schemas.openxmlformats.org/drawingml/2006/main" w="0">
            <a:solidFill>
              <a:srgbClr val="EDF4F7"/>
            </a:solidFill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0B0697EE-A767-4C6D-86D6-FED9B0A90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305175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77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277D8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143E3403-A272-4CC0-AEEE-43868B077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267075"/>
            <a:ext cx="361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Value framework</a:t>
            </a:r>
          </a:p>
        </p:txBody>
      </p:sp>
      <p:sp>
        <p:nvSpPr>
          <p:cNvPr id="20" name="box">
            <a:extLst xmlns:a="http://schemas.openxmlformats.org/drawingml/2006/main">
              <a:ext uri="{FF2B5EF4-FFF2-40B4-BE49-F238E27FC236}">
                <a16:creationId xmlns:a16="http://schemas.microsoft.com/office/drawing/2014/main" id="{0A33DCBD-2F74-4D81-8990-39F0D40FD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743325"/>
            <a:ext cx="40767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4F7"/>
          </a:solidFill>
          <a:ln xmlns:a="http://schemas.openxmlformats.org/drawingml/2006/main" w="0">
            <a:solidFill>
              <a:srgbClr val="EDF4F7"/>
            </a:solidFill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101AB91C-BF22-4026-BD6F-573DC317F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086225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77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277D8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E3E2E451-2E47-43B1-B8CF-394727939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048125"/>
            <a:ext cx="361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Risk critic</a:t>
            </a:r>
          </a:p>
        </p:txBody>
      </p:sp>
      <p:sp>
        <p:nvSpPr>
          <p:cNvPr id="23" name="box">
            <a:extLst xmlns:a="http://schemas.openxmlformats.org/drawingml/2006/main">
              <a:ext uri="{FF2B5EF4-FFF2-40B4-BE49-F238E27FC236}">
                <a16:creationId xmlns:a16="http://schemas.microsoft.com/office/drawing/2014/main" id="{F98953DE-DEC0-4912-9661-D7DC22932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524375"/>
            <a:ext cx="40767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4F7"/>
          </a:solidFill>
          <a:ln xmlns:a="http://schemas.openxmlformats.org/drawingml/2006/main" w="0">
            <a:solidFill>
              <a:srgbClr val="EDF4F7"/>
            </a:solidFill>
            <a:prstDash val="solid"/>
          </a:ln>
        </p:spPr>
      </p:sp>
      <p:sp>
        <p:nvSpPr>
          <p:cNvPr id="24" name="box">
            <a:extLst xmlns:a="http://schemas.openxmlformats.org/drawingml/2006/main">
              <a:ext uri="{FF2B5EF4-FFF2-40B4-BE49-F238E27FC236}">
                <a16:creationId xmlns:a16="http://schemas.microsoft.com/office/drawing/2014/main" id="{076ED877-CD33-47AE-874E-A132748FD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247900"/>
            <a:ext cx="219075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EDF4F7"/>
          </a:solidFill>
          <a:ln xmlns:a="http://schemas.openxmlformats.org/drawingml/2006/main" w="9525">
            <a:solidFill>
              <a:srgbClr val="B8C4CC"/>
            </a:solidFill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4FE3F142-2C70-422C-BF3E-18AC8FAA5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495550"/>
            <a:ext cx="1733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679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Consensus</a:t>
            </a:r>
          </a:p>
          <a:p xmlns:a="http://schemas.openxmlformats.org/drawingml/2006/main">
            <a:pPr algn="ctr">
              <a:defRPr sz="2025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proposes</a:t>
            </a:r>
          </a:p>
        </p:txBody>
      </p:sp>
      <p:sp>
        <p:nvSpPr>
          <p:cNvPr id="26" name="box">
            <a:extLst xmlns:a="http://schemas.openxmlformats.org/drawingml/2006/main">
              <a:ext uri="{FF2B5EF4-FFF2-40B4-BE49-F238E27FC236}">
                <a16:creationId xmlns:a16="http://schemas.microsoft.com/office/drawing/2014/main" id="{20189377-CD57-4D86-AAEE-90A195165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562350"/>
            <a:ext cx="21907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solidFill>
              <a:srgbClr val="0B1F33"/>
            </a:solidFill>
            <a:prstDash val="solid"/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AD5F5103-2EF0-4504-A3DC-AFF32B771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790950"/>
            <a:ext cx="17335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737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Deterministic</a:t>
            </a:r>
          </a:p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safety</a:t>
            </a:r>
          </a:p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decides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F1A3B23A-FB43-4F6D-9942-FF6D2BA56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6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66673"/>
                </a:solidFill>
                <a:latin typeface="Helvetica Neue"/>
                <a:ea typeface="Helvetica Neue"/>
                <a:cs typeface="Helvetica Neue"/>
              </a:rPr>
              <a:t>Every advisor cites evidence, contrary evidence, confidence, and an invalidation condition.</a:t>
            </a:r>
          </a:p>
        </p:txBody>
      </p:sp>
    </p:spTree>
    <p:extLst>
      <p:ext uri="{BB962C8B-B14F-4D97-AF65-F5344CB8AC3E}">
        <p14:creationId xmlns:p14="http://schemas.microsoft.com/office/powerpoint/2010/main" val="474276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yebrow-4">
            <a:extLst xmlns:a="http://schemas.openxmlformats.org/drawingml/2006/main">
              <a:ext uri="{FF2B5EF4-FFF2-40B4-BE49-F238E27FC236}">
                <a16:creationId xmlns:a16="http://schemas.microsoft.com/office/drawing/2014/main" id="{5FA32E94-0E64-433B-9DEE-C6FD9DF30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77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277D8"/>
                </a:solidFill>
                <a:latin typeface="Helvetica Neue"/>
                <a:ea typeface="Helvetica Neue"/>
                <a:cs typeface="Helvetica Neue"/>
              </a:rPr>
              <a:t>IPULSE AI OPTIONS ALPHA AGENT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1BF3B23E-1F12-4D38-919B-744B5F1EB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1125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1784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Reasoning may evolve. Capital boundaries stay explicit.</a:t>
            </a:r>
          </a:p>
        </p:txBody>
      </p:sp>
      <p:sp>
        <p:nvSpPr>
          <p:cNvPr id="3" name="box">
            <a:extLst xmlns:a="http://schemas.openxmlformats.org/drawingml/2006/main">
              <a:ext uri="{FF2B5EF4-FFF2-40B4-BE49-F238E27FC236}">
                <a16:creationId xmlns:a16="http://schemas.microsoft.com/office/drawing/2014/main" id="{B5106167-8395-4DEA-AFEB-8A591A3BA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111252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8C4CC"/>
          </a:solidFill>
          <a:ln xmlns:a="http://schemas.openxmlformats.org/drawingml/2006/main" w="0">
            <a:solidFill>
              <a:srgbClr val="B8C4CC"/>
            </a:solidFill>
            <a:prstDash val="solid"/>
          </a:ln>
        </p:spPr>
      </p: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8C9A5C2B-8B24-4D9C-99AD-136E5F4D9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74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483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5" name="box">
            <a:extLst xmlns:a="http://schemas.openxmlformats.org/drawingml/2006/main">
              <a:ext uri="{FF2B5EF4-FFF2-40B4-BE49-F238E27FC236}">
                <a16:creationId xmlns:a16="http://schemas.microsoft.com/office/drawing/2014/main" id="{44B740C6-2C11-4ED0-A25B-41131233B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95500"/>
            <a:ext cx="110109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DF4F7"/>
          </a:solidFill>
          <a:ln xmlns:a="http://schemas.openxmlformats.org/drawingml/2006/main" w="9525">
            <a:solidFill>
              <a:srgbClr val="B8C4CC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AC1B404-01AA-49D0-BD50-06297D2BF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71725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77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277D8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6A5FE93-4244-4892-B3A1-1D03221DE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314575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Environment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58EAC7C-A4F9-4CBA-B880-9D1A52B1C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333625"/>
            <a:ext cx="6400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Paper account only · two explicit execution switches</a:t>
            </a:r>
          </a:p>
        </p:txBody>
      </p:sp>
      <p:sp>
        <p:nvSpPr>
          <p:cNvPr id="9" name="box">
            <a:extLst xmlns:a="http://schemas.openxmlformats.org/drawingml/2006/main">
              <a:ext uri="{FF2B5EF4-FFF2-40B4-BE49-F238E27FC236}">
                <a16:creationId xmlns:a16="http://schemas.microsoft.com/office/drawing/2014/main" id="{39D26D09-8504-43E3-8C76-466AC696E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52800"/>
            <a:ext cx="110109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DF4F7"/>
          </a:solidFill>
          <a:ln xmlns:a="http://schemas.openxmlformats.org/drawingml/2006/main" w="9525">
            <a:solidFill>
              <a:srgbClr val="B8C4CC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6C84091-48C4-4BAD-9E2A-9492C8D01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29025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77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277D8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C17D9097-EAFF-4CD1-859B-C2E07F4AD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571875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Market state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4587CFEA-F1EF-4CB9-B155-3CB578AB8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590925"/>
            <a:ext cx="6400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Open session · fresh quote · complete broker state · no duplicate</a:t>
            </a:r>
          </a:p>
        </p:txBody>
      </p:sp>
      <p:sp>
        <p:nvSpPr>
          <p:cNvPr id="13" name="box">
            <a:extLst xmlns:a="http://schemas.openxmlformats.org/drawingml/2006/main">
              <a:ext uri="{FF2B5EF4-FFF2-40B4-BE49-F238E27FC236}">
                <a16:creationId xmlns:a16="http://schemas.microsoft.com/office/drawing/2014/main" id="{D7C9046B-785B-4F90-9489-1E1DEC42B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10100"/>
            <a:ext cx="110109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59AD1C67-5973-4458-AA05-ABD9EC5EF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86325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2D6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52D6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FB357064-6564-431B-AA0B-D891C2DDF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829175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Order and portfolio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3CC77C2F-BAA8-45A6-A489-5E37E88E5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48225"/>
            <a:ext cx="6400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One contract · limit only · long premium · max loss $500 · circuit breakers</a:t>
            </a:r>
          </a:p>
        </p:txBody>
      </p:sp>
    </p:spTree>
    <p:extLst>
      <p:ext uri="{BB962C8B-B14F-4D97-AF65-F5344CB8AC3E}">
        <p14:creationId xmlns:p14="http://schemas.microsoft.com/office/powerpoint/2010/main" val="17315161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-5">
            <a:extLst xmlns:a="http://schemas.openxmlformats.org/drawingml/2006/main">
              <a:ext uri="{FF2B5EF4-FFF2-40B4-BE49-F238E27FC236}">
                <a16:creationId xmlns:a16="http://schemas.microsoft.com/office/drawing/2014/main" id="{0BAE9F9A-1ECC-44C3-A1B8-314E392EE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77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277D8"/>
                </a:solidFill>
                <a:latin typeface="Helvetica Neue"/>
                <a:ea typeface="Helvetica Neue"/>
                <a:cs typeface="Helvetica Neue"/>
              </a:rPr>
              <a:t>IPULSE AI OPTIONS ALPHA AGENT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A8A12A82-0240-474C-BE0F-4F7EE2F3B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1125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A clean account and an honest starting line</a:t>
            </a:r>
          </a:p>
        </p:txBody>
      </p:sp>
      <p:sp>
        <p:nvSpPr>
          <p:cNvPr id="3" name="box">
            <a:extLst xmlns:a="http://schemas.openxmlformats.org/drawingml/2006/main">
              <a:ext uri="{FF2B5EF4-FFF2-40B4-BE49-F238E27FC236}">
                <a16:creationId xmlns:a16="http://schemas.microsoft.com/office/drawing/2014/main" id="{570A8284-B404-44E8-8EF7-6E96AA72B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111252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8C4CC"/>
          </a:solidFill>
          <a:ln xmlns:a="http://schemas.openxmlformats.org/drawingml/2006/main" w="0">
            <a:solidFill>
              <a:srgbClr val="B8C4CC"/>
            </a:solidFill>
            <a:prstDash val="solid"/>
          </a:ln>
        </p:spPr>
      </p:sp>
      <p:sp>
        <p:nvSpPr>
          <p:cNvPr id="4" name="page-5">
            <a:extLst xmlns:a="http://schemas.openxmlformats.org/drawingml/2006/main">
              <a:ext uri="{FF2B5EF4-FFF2-40B4-BE49-F238E27FC236}">
                <a16:creationId xmlns:a16="http://schemas.microsoft.com/office/drawing/2014/main" id="{4F02673E-DA8A-46D5-B3D2-20D2726EC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74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483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15DDE20-B68C-4BFE-A0DA-210848704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52625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6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66673"/>
                </a:solidFill>
                <a:latin typeface="Helvetica Neue"/>
                <a:ea typeface="Helvetica Neue"/>
                <a:cs typeface="Helvetica Neue"/>
              </a:rPr>
              <a:t>Dedicated Alpaca paper account created for the competition. Raw identifiers never enter public artifacts.</a:t>
            </a:r>
          </a:p>
        </p:txBody>
      </p:sp>
      <p:sp>
        <p:nvSpPr>
          <p:cNvPr id="6" name="box">
            <a:extLst xmlns:a="http://schemas.openxmlformats.org/drawingml/2006/main">
              <a:ext uri="{FF2B5EF4-FFF2-40B4-BE49-F238E27FC236}">
                <a16:creationId xmlns:a16="http://schemas.microsoft.com/office/drawing/2014/main" id="{FD8FD003-6C5E-43F6-BC60-650E4DFD0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48000"/>
            <a:ext cx="342900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D9F5FF"/>
          </a:solidFill>
          <a:ln xmlns:a="http://schemas.openxmlformats.org/drawingml/2006/main" w="9525">
            <a:solidFill>
              <a:srgbClr val="52D6FF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7C0A279-6DAE-4B4B-B505-A1B687F2B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86150"/>
            <a:ext cx="285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2277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2277D8"/>
                </a:solidFill>
                <a:latin typeface="Helvetica Neue"/>
                <a:ea typeface="Helvetica Neue"/>
                <a:cs typeface="Helvetica Neue"/>
              </a:rPr>
              <a:t>$100K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311C896-8D9A-4D97-B510-804D41EF2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529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56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66673"/>
                </a:solidFill>
                <a:latin typeface="Helvetica Neue"/>
                <a:ea typeface="Helvetica Neue"/>
                <a:cs typeface="Helvetica Neue"/>
              </a:rPr>
              <a:t>starting equity</a:t>
            </a:r>
          </a:p>
        </p:txBody>
      </p:sp>
      <p:sp>
        <p:nvSpPr>
          <p:cNvPr id="9" name="box">
            <a:extLst xmlns:a="http://schemas.openxmlformats.org/drawingml/2006/main">
              <a:ext uri="{FF2B5EF4-FFF2-40B4-BE49-F238E27FC236}">
                <a16:creationId xmlns:a16="http://schemas.microsoft.com/office/drawing/2014/main" id="{46EB1DB8-CA27-44AE-A00A-7E09E1B5D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048000"/>
            <a:ext cx="342900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DF4F7"/>
          </a:solidFill>
          <a:ln xmlns:a="http://schemas.openxmlformats.org/drawingml/2006/main" w="9525">
            <a:solidFill>
              <a:srgbClr val="B8C4CC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532E5690-5257-439C-99A3-D1872EB60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486150"/>
            <a:ext cx="285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LEVEL 3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3DDF0F94-BE42-4CB7-A3D7-BF30F4149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5529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56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66673"/>
                </a:solidFill>
                <a:latin typeface="Helvetica Neue"/>
                <a:ea typeface="Helvetica Neue"/>
                <a:cs typeface="Helvetica Neue"/>
              </a:rPr>
              <a:t>options approval</a:t>
            </a:r>
          </a:p>
        </p:txBody>
      </p:sp>
      <p:sp>
        <p:nvSpPr>
          <p:cNvPr id="12" name="box">
            <a:extLst xmlns:a="http://schemas.openxmlformats.org/drawingml/2006/main">
              <a:ext uri="{FF2B5EF4-FFF2-40B4-BE49-F238E27FC236}">
                <a16:creationId xmlns:a16="http://schemas.microsoft.com/office/drawing/2014/main" id="{73EBB6B7-F17F-498D-9905-2BEE71095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048000"/>
            <a:ext cx="342900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DF4F7"/>
          </a:solidFill>
          <a:ln xmlns:a="http://schemas.openxmlformats.org/drawingml/2006/main" w="9525">
            <a:solidFill>
              <a:srgbClr val="B8C4CC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920C691A-7B40-430A-9141-7FD0485B2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486150"/>
            <a:ext cx="285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0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AC264276-4785-4C66-87E4-8B0896EA0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5529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56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66673"/>
                </a:solidFill>
                <a:latin typeface="Helvetica Neue"/>
                <a:ea typeface="Helvetica Neue"/>
                <a:cs typeface="Helvetica Neue"/>
              </a:rPr>
              <a:t>initial fills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2992B073-49EE-4165-B3CC-4ADBD6734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5310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6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66673"/>
                </a:solidFill>
                <a:latin typeface="Helvetica Neue"/>
                <a:ea typeface="Helvetica Neue"/>
                <a:cs typeface="Helvetica Neue"/>
              </a:rPr>
              <a:t>Connectivity proof: one deliberately non-marketable $1 equity limit order, canceled without a fill.</a:t>
            </a:r>
          </a:p>
        </p:txBody>
      </p:sp>
    </p:spTree>
    <p:extLst>
      <p:ext uri="{BB962C8B-B14F-4D97-AF65-F5344CB8AC3E}">
        <p14:creationId xmlns:p14="http://schemas.microsoft.com/office/powerpoint/2010/main" val="173572147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-6">
            <a:extLst xmlns:a="http://schemas.openxmlformats.org/drawingml/2006/main">
              <a:ext uri="{FF2B5EF4-FFF2-40B4-BE49-F238E27FC236}">
                <a16:creationId xmlns:a16="http://schemas.microsoft.com/office/drawing/2014/main" id="{619D1368-E64E-442D-B139-49983C354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77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277D8"/>
                </a:solidFill>
                <a:latin typeface="Helvetica Neue"/>
                <a:ea typeface="Helvetica Neue"/>
                <a:cs typeface="Helvetica Neue"/>
              </a:rPr>
              <a:t>IPULSE AI OPTIONS ALPHA AGENT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05B53560-4286-4EA7-9230-CF1E81026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1125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The agent passed its refusal test</a:t>
            </a:r>
          </a:p>
        </p:txBody>
      </p:sp>
      <p:sp>
        <p:nvSpPr>
          <p:cNvPr id="3" name="box">
            <a:extLst xmlns:a="http://schemas.openxmlformats.org/drawingml/2006/main">
              <a:ext uri="{FF2B5EF4-FFF2-40B4-BE49-F238E27FC236}">
                <a16:creationId xmlns:a16="http://schemas.microsoft.com/office/drawing/2014/main" id="{4673C0E3-2BFE-4900-B4C6-B6F9302ED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111252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8C4CC"/>
          </a:solidFill>
          <a:ln xmlns:a="http://schemas.openxmlformats.org/drawingml/2006/main" w="0">
            <a:solidFill>
              <a:srgbClr val="B8C4CC"/>
            </a:solidFill>
            <a:prstDash val="solid"/>
          </a:ln>
        </p:spPr>
      </p:sp>
      <p:sp>
        <p:nvSpPr>
          <p:cNvPr id="4" name="page-6">
            <a:extLst xmlns:a="http://schemas.openxmlformats.org/drawingml/2006/main">
              <a:ext uri="{FF2B5EF4-FFF2-40B4-BE49-F238E27FC236}">
                <a16:creationId xmlns:a16="http://schemas.microsoft.com/office/drawing/2014/main" id="{5A3DAFD2-FE16-49FD-833F-CE533B4F4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74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483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19786F2-09E2-48ED-9472-578360B80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33600"/>
            <a:ext cx="4381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0" b="1">
                <a:solidFill>
                  <a:srgbClr val="F4B9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0" b="1">
                <a:solidFill>
                  <a:srgbClr val="F4B942"/>
                </a:solidFill>
                <a:latin typeface="Helvetica Neue"/>
                <a:ea typeface="Helvetica Neue"/>
                <a:cs typeface="Helvetica Neue"/>
              </a:rPr>
              <a:t>WAIT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20CC99E-9406-4A2F-AD25-D93E2574B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62375"/>
            <a:ext cx="4476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07111F"/>
                </a:solidFill>
                <a:latin typeface="Helvetica Neue"/>
                <a:ea typeface="Helvetica Neue"/>
                <a:cs typeface="Helvetica Neue"/>
              </a:rPr>
              <a:t>A real retained run reached aligned technical and options views—then stopped.</a:t>
            </a:r>
          </a:p>
        </p:txBody>
      </p:sp>
      <p:sp>
        <p:nvSpPr>
          <p:cNvPr id="7" name="box">
            <a:extLst xmlns:a="http://schemas.openxmlformats.org/drawingml/2006/main">
              <a:ext uri="{FF2B5EF4-FFF2-40B4-BE49-F238E27FC236}">
                <a16:creationId xmlns:a16="http://schemas.microsoft.com/office/drawing/2014/main" id="{9750DD2A-7FC3-4217-BAFA-8D6454CDA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190750"/>
            <a:ext cx="51435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EDF4F7"/>
          </a:solidFill>
          <a:ln xmlns:a="http://schemas.openxmlformats.org/drawingml/2006/main" w="9525">
            <a:solidFill>
              <a:srgbClr val="B8C4CC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5F39009-B132-4AB6-8BB6-7F2C7528F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41935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D95C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D95C5C"/>
                </a:solidFill>
                <a:latin typeface="Helvetica Neue"/>
                <a:ea typeface="Helvetica Neue"/>
                <a:cs typeface="Helvetica Neue"/>
              </a:rPr>
              <a:t>MARKET CLOSED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BA0AAF6-EC97-45C6-98FD-BC2FEB63A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765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6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66673"/>
                </a:solidFill>
                <a:latin typeface="Helvetica Neue"/>
                <a:ea typeface="Helvetica Neue"/>
                <a:cs typeface="Helvetica Neue"/>
              </a:rPr>
              <a:t>Regular US session was not open.</a:t>
            </a:r>
          </a:p>
        </p:txBody>
      </p:sp>
      <p:sp>
        <p:nvSpPr>
          <p:cNvPr id="10" name="box">
            <a:extLst xmlns:a="http://schemas.openxmlformats.org/drawingml/2006/main">
              <a:ext uri="{FF2B5EF4-FFF2-40B4-BE49-F238E27FC236}">
                <a16:creationId xmlns:a16="http://schemas.microsoft.com/office/drawing/2014/main" id="{3DF02056-E7BA-4B0E-AFE2-19CA24B57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581400"/>
            <a:ext cx="51435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EDF4F7"/>
          </a:solidFill>
          <a:ln xmlns:a="http://schemas.openxmlformats.org/drawingml/2006/main" w="9525">
            <a:solidFill>
              <a:srgbClr val="B8C4CC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AD31E0F8-463A-4C37-A551-6B0BF7765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81000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D95C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D95C5C"/>
                </a:solidFill>
                <a:latin typeface="Helvetica Neue"/>
                <a:ea typeface="Helvetica Neue"/>
                <a:cs typeface="Helvetica Neue"/>
              </a:rPr>
              <a:t>QUOTE STALE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DF61DC9-D34F-43A2-AEE6-548B90F70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2672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6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66673"/>
                </a:solidFill>
                <a:latin typeface="Helvetica Neue"/>
                <a:ea typeface="Helvetica Neue"/>
                <a:cs typeface="Helvetica Neue"/>
              </a:rPr>
              <a:t>The option quote exceeded the 120-second limit.</a:t>
            </a:r>
          </a:p>
        </p:txBody>
      </p:sp>
      <p:sp>
        <p:nvSpPr>
          <p:cNvPr id="13" name="box">
            <a:extLst xmlns:a="http://schemas.openxmlformats.org/drawingml/2006/main">
              <a:ext uri="{FF2B5EF4-FFF2-40B4-BE49-F238E27FC236}">
                <a16:creationId xmlns:a16="http://schemas.microsoft.com/office/drawing/2014/main" id="{A9D57874-7F97-46EA-B44C-CF14AD1F0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10150"/>
            <a:ext cx="51435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52D6FF"/>
          </a:solidFill>
          <a:ln xmlns:a="http://schemas.openxmlformats.org/drawingml/2006/main" w="0">
            <a:solidFill>
              <a:srgbClr val="52D6FF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4CD64F6F-E6A7-47BA-95E7-D5C74FBA4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16255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No fallback. No forced demo trade.</a:t>
            </a:r>
          </a:p>
        </p:txBody>
      </p:sp>
    </p:spTree>
    <p:extLst>
      <p:ext uri="{BB962C8B-B14F-4D97-AF65-F5344CB8AC3E}">
        <p14:creationId xmlns:p14="http://schemas.microsoft.com/office/powerpoint/2010/main" val="183559906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355D33A1-7DBA-4494-921D-4232AA586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D6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2D6FF"/>
                </a:solidFill>
                <a:latin typeface="Helvetica Neue"/>
                <a:ea typeface="Helvetica Neue"/>
                <a:cs typeface="Helvetica Neue"/>
              </a:rPr>
              <a:t>THE PROOF PATH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13F98DF4-5ABC-4D4D-81CA-2A7A38F2A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10572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From evidence to paper P&amp;L, every step stays reviewable</a:t>
            </a:r>
          </a:p>
        </p:txBody>
      </p:sp>
      <p:sp>
        <p:nvSpPr>
          <p:cNvPr id="3" name="box">
            <a:extLst xmlns:a="http://schemas.openxmlformats.org/drawingml/2006/main">
              <a:ext uri="{FF2B5EF4-FFF2-40B4-BE49-F238E27FC236}">
                <a16:creationId xmlns:a16="http://schemas.microsoft.com/office/drawing/2014/main" id="{F8352D6E-6ED7-41CC-B790-E892115DB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0"/>
            <a:ext cx="314325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2D6FF"/>
          </a:solidFill>
          <a:ln xmlns:a="http://schemas.openxmlformats.org/drawingml/2006/main" w="0">
            <a:solidFill>
              <a:srgbClr val="52D6FF"/>
            </a:solidFill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303B6B32-82E2-43FB-B7E6-9320EDD28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051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2D6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2D6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91CD9A4-0300-4767-84CD-D2793150E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7187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Public code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F2E1B27-2734-4BD2-9B18-356B572FD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29100"/>
            <a:ext cx="3143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8D4D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C8D4DD"/>
                </a:solidFill>
                <a:latin typeface="Helvetica Neue"/>
                <a:ea typeface="Helvetica Neue"/>
                <a:cs typeface="Helvetica Neue"/>
              </a:rPr>
              <a:t>Tests, strategy, MCP adapter, and risk gates</a:t>
            </a:r>
          </a:p>
        </p:txBody>
      </p:sp>
      <p:sp>
        <p:nvSpPr>
          <p:cNvPr id="7" name="box">
            <a:extLst xmlns:a="http://schemas.openxmlformats.org/drawingml/2006/main">
              <a:ext uri="{FF2B5EF4-FFF2-40B4-BE49-F238E27FC236}">
                <a16:creationId xmlns:a16="http://schemas.microsoft.com/office/drawing/2014/main" id="{A091A08C-33DD-41AF-9D40-7795A66CE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857500"/>
            <a:ext cx="314325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2576A"/>
          </a:solidFill>
          <a:ln xmlns:a="http://schemas.openxmlformats.org/drawingml/2006/main" w="0">
            <a:solidFill>
              <a:srgbClr val="42576A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DD2275F-F838-4B06-AD42-7046DA3AE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1051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2D6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2D6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96E4D579-AB76-4E24-BB2F-4A341B0AA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57187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Decision dashboard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7AC9397-249C-416F-BA36-F2150ED68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229100"/>
            <a:ext cx="3143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8D4D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C8D4DD"/>
                </a:solidFill>
                <a:latin typeface="Helvetica Neue"/>
                <a:ea typeface="Helvetica Neue"/>
                <a:cs typeface="Helvetica Neue"/>
              </a:rPr>
              <a:t>Advisor dissent, vetoes, orders, and scorecard</a:t>
            </a:r>
          </a:p>
        </p:txBody>
      </p:sp>
      <p:sp>
        <p:nvSpPr>
          <p:cNvPr id="11" name="box">
            <a:extLst xmlns:a="http://schemas.openxmlformats.org/drawingml/2006/main">
              <a:ext uri="{FF2B5EF4-FFF2-40B4-BE49-F238E27FC236}">
                <a16:creationId xmlns:a16="http://schemas.microsoft.com/office/drawing/2014/main" id="{BA9EBA3B-12A5-4C80-A051-3A3F0BC9B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57500"/>
            <a:ext cx="314325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2576A"/>
          </a:solidFill>
          <a:ln xmlns:a="http://schemas.openxmlformats.org/drawingml/2006/main" w="0">
            <a:solidFill>
              <a:srgbClr val="42576A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5F02B2AF-7910-455B-9D7D-74E23AD60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1051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2D6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2D6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3D8A9059-E4BE-4844-BCC0-92BF86AC2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57187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Competition evidence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386EF48E-D0C6-46E6-9D5A-FA0BEC18D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229100"/>
            <a:ext cx="3143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8D4D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C8D4DD"/>
                </a:solidFill>
                <a:latin typeface="Helvetica Neue"/>
                <a:ea typeface="Helvetica Neue"/>
                <a:cs typeface="Helvetica Neue"/>
              </a:rPr>
              <a:t>Dedicated account baseline and paper performance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C7626FD3-9D57-4CA2-B96B-CE1401C88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00700"/>
            <a:ext cx="971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52D6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52D6FF"/>
                </a:solidFill>
                <a:latin typeface="Helvetica Neue"/>
                <a:ea typeface="Helvetica Neue"/>
                <a:cs typeface="Helvetica Neue"/>
              </a:rPr>
              <a:t>AI proposes. Deterministic risk decides. Alpaca executes.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B0498633-286D-4BAB-9807-F288F6F09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674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FB1B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9FB1BF"/>
                </a:solidFill>
                <a:latin typeface="Helvetica Neue"/>
                <a:ea typeface="Helvetica Neue"/>
                <a:cs typeface="Helvetica Neue"/>
              </a:rPr>
              <a:t>Research and simulated paper trading only. Not investment advice.</a:t>
            </a:r>
          </a:p>
        </p:txBody>
      </p:sp>
    </p:spTree>
    <p:extLst>
      <p:ext uri="{BB962C8B-B14F-4D97-AF65-F5344CB8AC3E}">
        <p14:creationId xmlns:p14="http://schemas.microsoft.com/office/powerpoint/2010/main" val="14582808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2026-09-03T17:26:37.9390000Z</dcterms:created>
  <dcterms:modified xsi:type="dcterms:W3CDTF">2026-09-03T17:26:37.9390000Z</dcterms:modified>
</coreProperties>
</file>