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892da6e8544e5" /><Relationship Type="http://schemas.openxmlformats.org/officeDocument/2006/relationships/extended-properties" Target="/docProps/app.xml" Id="R53474794c0a246e9" /><Relationship Type="http://schemas.openxmlformats.org/officeDocument/2006/relationships/officeDocument" Target="/ppt/presentation.xml" Id="Ra6f557f22603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6327f68e245c4"/>
  </p:sldMasterIdLst>
  <p:notesMasterIdLst>
    <p:notesMasterId xmlns:r="http://schemas.openxmlformats.org/officeDocument/2006/relationships" r:id="R31c42441a1834d90"/>
  </p:notesMasterIdLst>
  <p:sldIdLst>
    <p:sldId xmlns:r="http://schemas.openxmlformats.org/officeDocument/2006/relationships" id="256" r:id="R696160e0e1f049b9"/>
    <p:sldId xmlns:r="http://schemas.openxmlformats.org/officeDocument/2006/relationships" id="257" r:id="R880e29b304ee4a65"/>
    <p:sldId xmlns:r="http://schemas.openxmlformats.org/officeDocument/2006/relationships" id="258" r:id="R2493a57bf3bf4682"/>
    <p:sldId xmlns:r="http://schemas.openxmlformats.org/officeDocument/2006/relationships" id="259" r:id="R250528b196b84709"/>
    <p:sldId xmlns:r="http://schemas.openxmlformats.org/officeDocument/2006/relationships" id="260" r:id="Ra4ce78293efe4689"/>
    <p:sldId xmlns:r="http://schemas.openxmlformats.org/officeDocument/2006/relationships" id="261" r:id="Rc832c397ffde4544"/>
    <p:sldId xmlns:r="http://schemas.openxmlformats.org/officeDocument/2006/relationships" id="262" r:id="R87e70e7e9e3445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4db1c2ef4499c" /><Relationship Type="http://schemas.openxmlformats.org/officeDocument/2006/relationships/slideMaster" Target="/ppt/slideMasters/slideMaster1.xml" Id="R1906327f68e245c4" /><Relationship Type="http://schemas.openxmlformats.org/officeDocument/2006/relationships/notesMaster" Target="/ppt/notesMasters/notesMaster1.xml" Id="R31c42441a1834d90" /><Relationship Type="http://schemas.openxmlformats.org/officeDocument/2006/relationships/presProps" Target="/ppt/presProps.xml" Id="R18fa28f3ec33425a" /><Relationship Type="http://schemas.openxmlformats.org/officeDocument/2006/relationships/tableStyles" Target="/ppt/tableStyles.xml" Id="R394b809d54ef4000" /><Relationship Type="http://schemas.openxmlformats.org/officeDocument/2006/relationships/slide" Target="/ppt/slides/slide1.xml" Id="R696160e0e1f049b9" /><Relationship Type="http://schemas.openxmlformats.org/officeDocument/2006/relationships/slide" Target="/ppt/slides/slide2.xml" Id="R880e29b304ee4a65" /><Relationship Type="http://schemas.openxmlformats.org/officeDocument/2006/relationships/slide" Target="/ppt/slides/slide3.xml" Id="R2493a57bf3bf4682" /><Relationship Type="http://schemas.openxmlformats.org/officeDocument/2006/relationships/slide" Target="/ppt/slides/slide4.xml" Id="R250528b196b84709" /><Relationship Type="http://schemas.openxmlformats.org/officeDocument/2006/relationships/slide" Target="/ppt/slides/slide5.xml" Id="Ra4ce78293efe4689" /><Relationship Type="http://schemas.openxmlformats.org/officeDocument/2006/relationships/slide" Target="/ppt/slides/slide6.xml" Id="Rc832c397ffde4544" /><Relationship Type="http://schemas.openxmlformats.org/officeDocument/2006/relationships/slide" Target="/ppt/slides/slide7.xml" Id="R87e70e7e9e3445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4fb7f3ecd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bf111b21be40e8" /><Relationship Type="http://schemas.openxmlformats.org/officeDocument/2006/relationships/notesMaster" Target="/ppt/notesMasters/notesMaster1.xml" Id="R011f7758aa4e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f7de6eb69d4205" /><Relationship Type="http://schemas.openxmlformats.org/officeDocument/2006/relationships/notesMaster" Target="/ppt/notesMasters/notesMaster1.xml" Id="R848edfb8465c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4f3a54591045ac" /><Relationship Type="http://schemas.openxmlformats.org/officeDocument/2006/relationships/notesMaster" Target="/ppt/notesMasters/notesMaster1.xml" Id="R8dde1cbd98be43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39a99102f549b4" /><Relationship Type="http://schemas.openxmlformats.org/officeDocument/2006/relationships/notesMaster" Target="/ppt/notesMasters/notesMaster1.xml" Id="R7ab4b06ea0b5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17de70897a4a9a" /><Relationship Type="http://schemas.openxmlformats.org/officeDocument/2006/relationships/notesMaster" Target="/ppt/notesMasters/notesMaster1.xml" Id="R82c07dbc077a4c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e1c74269f64539" /><Relationship Type="http://schemas.openxmlformats.org/officeDocument/2006/relationships/notesMaster" Target="/ppt/notesMasters/notesMaster1.xml" Id="R88aa3647935d4f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733c4bf34c47b2" /><Relationship Type="http://schemas.openxmlformats.org/officeDocument/2006/relationships/notesMaster" Target="/ppt/notesMasters/notesMaster1.xml" Id="Re3a47bd407764d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trading-agent demos optimize for activity. We designed for accountability, including the ability to WAIT.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- Local generated cover: public/assets/ipulse-options-alpha-agent-cover.png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judges cannot reconstruct the evidence, dissent, vetoes, and broker result, autonomy is indistinguishable from unattended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docs/judge_one_pager.md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Advisors may CALL, PUT, WAIT, or ABSTAIN. Missing evidence never becomes a guess, and no advisor owns execution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src/ipulse_options_alpha_agent/advisors.py</a:t>
            </a:r>
          </a:p>
          <a:p xmlns:a="http://schemas.openxmlformats.org/drawingml/2006/main">
            <a:r>
              <a:t>- Local source: src/ipulse_options_alpha_agent/consensus.py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advisor or language model can bypass these rules. A failed check returns WAIT or REJECT; it never changes order type, size, or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src/ipulse_options_alpha_agent/safety.py</a:t>
            </a:r>
          </a:p>
          <a:p xmlns:a="http://schemas.openxmlformats.org/drawingml/2006/main">
            <a:r>
              <a:t>- Local source: src/ipulse_options_alpha_agent/risk.py</a:t>
            </a:r>
          </a:p>
          <a:p xmlns:a="http://schemas.openxmlformats.org/drawingml/2006/main">
            <a:r>
              <a:t>- Local source: src/ipulse_options_alpha_agent/execution.py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dedicated account began with $100,000, active status, options level 3, and no positions or fills. The raw account ID belongs only in the private judging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sanitized source: artifacts/competition/performance.jsonl</a:t>
            </a:r>
          </a:p>
          <a:p xmlns:a="http://schemas.openxmlformats.org/drawingml/2006/main">
            <a:r>
              <a:t>- https://docs.alpaca.markets/docs/paper-trading</a:t>
            </a:r>
          </a:p>
          <a:p xmlns:a="http://schemas.openxmlformats.org/drawingml/2006/main">
            <a:r>
              <a:t>
[Sources]
- Alpaca paper dashboard, accessed 2026-09-03 15:49 ET.
- https://thefutureedge.github.io/ipulse-ai-options-alpha-agent/evidence/live_strategy_fill.json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was the desired result. The system preserved all advisor views and vetoes instead of forcing activity for 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artifacts/decisions/advisor_market_evidence.jsonl</a:t>
            </a:r>
          </a:p>
          <a:p xmlns:a="http://schemas.openxmlformats.org/drawingml/2006/main">
            <a:r>
              <a:t>- Local source: public/index.html</a:t>
            </a:r>
          </a:p>
          <a:p xmlns:a="http://schemas.openxmlformats.org/drawingml/2006/main">
            <a:r>
              <a:t>
[Sources]
- Alpaca IEX adjusted daily bars for SPY, QQQ and IWM, 2021-2026.
- https://thefutureedge.github.io/ipulse-ai-options-alpha-agent/evidence/exhaustion_reversal_v1_scorecard.json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inspection path: code, dashboard, evidence, and final paper scorecard. Short paper performance does not predict live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https://github.com/alpacahq/alpaca-mcp-server</a:t>
            </a:r>
          </a:p>
          <a:p xmlns:a="http://schemas.openxmlformats.org/drawingml/2006/main">
            <a:r>
              <a:t>- Local source: docs/judge_one_pager.md</a:t>
            </a:r>
          </a:p>
          <a:p xmlns:a="http://schemas.openxmlformats.org/drawingml/2006/main">
            <a:r>
              <a:t>
[Sources]
- https://github.com/TheFutureEdge/ipulse-ai-options-alpha-agent
- https://thefutureedge.github.io/ipulse-ai-options-alpha-agent/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531d91a67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7727f361684b98" /><Relationship Type="http://schemas.openxmlformats.org/officeDocument/2006/relationships/slideLayout" Target="/ppt/slideLayouts/slideLayout1.xml" Id="R52033538796140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33538796140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3b7319e534032" /><Relationship Type="http://schemas.openxmlformats.org/officeDocument/2006/relationships/image" Target="/ppt/media/image.png" Id="R174139eea7b84016" /><Relationship Type="http://schemas.openxmlformats.org/officeDocument/2006/relationships/notesSlide" Target="/ppt/notesSlides/notesSlide1.xml" Id="R92e6ffb083f445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bb898e4674e35" /><Relationship Type="http://schemas.openxmlformats.org/officeDocument/2006/relationships/notesSlide" Target="/ppt/notesSlides/notesSlide2.xml" Id="Rb8903e5c461b46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5e396c20432f" /><Relationship Type="http://schemas.openxmlformats.org/officeDocument/2006/relationships/notesSlide" Target="/ppt/notesSlides/notesSlide3.xml" Id="Rb80edf4c74e940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bb4d6cdc54dec" /><Relationship Type="http://schemas.openxmlformats.org/officeDocument/2006/relationships/notesSlide" Target="/ppt/notesSlides/notesSlide4.xml" Id="R50ec929a2c394b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c32d67a154b45" /><Relationship Type="http://schemas.openxmlformats.org/officeDocument/2006/relationships/notesSlide" Target="/ppt/notesSlides/notesSlide5.xml" Id="Rba9d639b165a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01f2c6391429a" /><Relationship Type="http://schemas.openxmlformats.org/officeDocument/2006/relationships/notesSlide" Target="/ppt/notesSlides/notesSlide6.xml" Id="Rc4b706236f4048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d7afd8e17468c" /><Relationship Type="http://schemas.openxmlformats.org/officeDocument/2006/relationships/notesSlide" Target="/ppt/notesSlides/notesSlide7.xml" Id="Rfe549cf0234d4a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139eea7b840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97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B2B19F52-4FE5-4182-81C8-EA579F9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E294260-45EB-4CE5-B5DB-5F579E7B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trade is not proof of intelligence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0E5E1F6F-200F-452C-9DEE-428DBA4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2C9292D-3755-4EA9-9673-F4E1E78D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939A93-8BD9-40C0-AB0C-4FC1D2FB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BLACK BOX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C654FB-FFE5-49B5-9227-99364CD0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BB0707-B8E9-47C9-B850-EF2DB2C5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No visible evidence.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No preserved dissent.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No reason for refusal.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231ADCC-8F5D-4027-8E47-4BD54C4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19300"/>
            <a:ext cx="38100" cy="381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C6C632-5666-4120-AAE2-0AC6D768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8A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B8A62"/>
                </a:solidFill>
                <a:latin typeface="Helvetica Neue"/>
                <a:ea typeface="Helvetica Neue"/>
                <a:cs typeface="Helvetica Neue"/>
              </a:rPr>
              <a:t>INSPECTABLE AGENT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6A9C43-D0FA-4B55-95B8-E5E3B51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Disagreement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Risk decision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Broker receipt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CC64AF1-17DE-4C0D-B268-B07AF2B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2D6FF"/>
          </a:solidFill>
          <a:ln xmlns:a="http://schemas.openxmlformats.org/drawingml/2006/main" w="0">
            <a:solidFill>
              <a:srgbClr val="52D6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727519-A5F3-41C4-B793-3AD69509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4352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WAIT and REJECT are evidence, too.</a:t>
            </a:r>
          </a:p>
        </p:txBody>
      </p:sp>
    </p:spTree>
    <p:extLst>
      <p:ext uri="{BB962C8B-B14F-4D97-AF65-F5344CB8AC3E}">
        <p14:creationId xmlns:p14="http://schemas.microsoft.com/office/powerpoint/2010/main" val="1820081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3">
            <a:extLst xmlns:a="http://schemas.openxmlformats.org/drawingml/2006/main">
              <a:ext uri="{FF2B5EF4-FFF2-40B4-BE49-F238E27FC236}">
                <a16:creationId xmlns:a16="http://schemas.microsoft.com/office/drawing/2014/main" id="{33F7A3E9-9204-412F-AD9C-AA162A57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58C8261-CD63-4EF6-9581-434BA8E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Never let one AI own the conclusion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55520EB-28BC-4EAF-8398-97EAF76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63C3E6C-2B0B-447C-9A08-6DEC4EE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CED1EE-FB66-47F3-824A-B2E35088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PROBABILISTIC RESEARCH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3B8521-E78B-4A3B-87BF-F045A6F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6D419F-4DCD-4159-9EE0-D700DA35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60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Technical regime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305A3F90-B92E-4471-AB06-B1D5F1A7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88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381920-697B-4404-835D-3657E8F1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E14AD0-0707-450B-BDF5-E6417726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News catalyst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14F7D90-5A8A-4855-9277-675392E2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88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7208A6-7E15-4622-9848-040FE07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1C8E92-09A8-465A-98F7-ABB9520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Options liquidity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98EF9102-A827-4443-B33A-1357ED93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88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7EF323-5F27-4228-AEE0-B2ED831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B16EDA-2278-465D-9687-4FE0946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860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Financials auditor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62E6366-7643-41CE-B6FD-A8674C18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4076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0697EE-A767-4C6D-86D6-FED9B0A9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3E3403-A272-4CC0-AEEE-43868B0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670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Value framework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0A33DCBD-2F74-4D81-8990-39F0D40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43325"/>
            <a:ext cx="4076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1AB91C-BF22-4026-BD6F-573DC31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86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3E2E451-2E47-43B1-B8CF-3947279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81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Risk critic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98953DE-DEC0-4912-9661-D7DC229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24375"/>
            <a:ext cx="4076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076ED877-CD33-47AE-874E-A132748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FE3F142-2C70-422C-BF3E-18AC8FA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95550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Consensus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proposes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20189377-CD57-4D86-AAEE-90A1951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62350"/>
            <a:ext cx="219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5F5103-2EF0-4504-A3DC-AFF32B77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90950"/>
            <a:ext cx="1733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decides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1A3B23A-FB43-4F6D-9942-FF6D2BA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Every advisor cites evidence, contrary evidence, confidence, and an invalidation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742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5FA32E94-0E64-433B-9DEE-C6FD9DF3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BF3B23E-1F12-4D38-919B-744B5F1E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Reasoning may evolve. Capital boundaries stay explicit.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B5106167-8395-4DEA-AFEB-8A591A3B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C9A5C2B-8B24-4D9C-99AD-136E5F4D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4B740C6-2C11-4ED0-A25B-41131233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1010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C1B404-01AA-49D0-BD50-06297D2B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A5FE93-4244-4892-B3A1-1D03221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145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8EAC7C-A4F9-4CBA-B880-9D1A52B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Paper account only · two explicit execution switches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9D26D09-8504-43E3-8C76-466AC69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1010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C84091-48C4-4BAD-9E2A-9492C8D0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7D9097-EAFF-4CD1-859B-C2E07F4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71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Market state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87CFEA-F1EF-4CB9-B155-3CB578A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909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Open session · fresh quote · complete broker state · no duplicate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D7C9046B-785B-4F90-9489-1E1DEC42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1010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AD1C67-5973-4458-AA05-ABD9EC5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357064-6564-431B-AA0B-D891C2D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29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Order and portfolio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C77C2F-BAA8-45A6-A489-5E37E88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contract · limit only · long premium · max loss $500 · circuit breakers</a:t>
            </a:r>
          </a:p>
        </p:txBody>
      </p:sp>
    </p:spTree>
    <p:extLst>
      <p:ext uri="{BB962C8B-B14F-4D97-AF65-F5344CB8AC3E}">
        <p14:creationId xmlns:p14="http://schemas.microsoft.com/office/powerpoint/2010/main" val="1731516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0BAE9F9A-1ECC-44C3-A1B8-314E392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8A12A82-0240-474C-BE0F-4F7EE2F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Three fills. Every risk bounded.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70A8284-B404-44E8-8EF7-6E96AA7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F02673E-DA8A-46D5-B3D2-20D2726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5DDE20-B68C-4BFE-A0DA-2108487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Three one-contract paper fills across AAPL, XLF and AMZN. Broker receipts retained; raw account identifiers stay private.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D8FD003-6C5E-43F6-BC60-650E4DF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9F5FF"/>
          </a:solidFill>
          <a:ln xmlns:a="http://schemas.openxmlformats.org/drawingml/2006/main" w="9525">
            <a:solidFill>
              <a:srgbClr val="52D6F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C0A279-6DAE-4B4B-B505-A1B687F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3 FILLS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11C896-8D9A-4D97-B510-804D41E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broker verified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46EB1DB8-CA27-44AE-A00A-7E09E1B5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2E5690-5257-439C-99A3-D1872EB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86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$825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DF0F94-BE42-4CB7-A3D7-BF30F414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max premium risk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73EBB6B7-F17F-498D-9905-2BEE710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0C691A-7B40-430A-9141-7FD0485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-$13.09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264276-4785-4C66-87E4-8B0896E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captured paper P&amp;L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92B073-49EE-4165-B3CC-4ADBD67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AAPL $4.15  •  XLF $0.30  •  AMZN $3.80  •  buy-to-open paper limit fills on 3 Sep 2026.</a:t>
            </a:r>
          </a:p>
        </p:txBody>
      </p:sp>
    </p:spTree>
    <p:extLst>
      <p:ext uri="{BB962C8B-B14F-4D97-AF65-F5344CB8AC3E}">
        <p14:creationId xmlns:p14="http://schemas.microsoft.com/office/powerpoint/2010/main" val="1735721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619D1368-E64E-442D-B139-49983C3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5B53560-4286-4EA7-9230-CF1E810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challenger survived an untouched holdout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4673C0E3-2BFE-4900-B4C6-B6F9302E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A3DAFD2-FE16-49FD-833F-CE533B4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9786F2-09E2-48ED-9472-578360B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55.9%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0CC99E-9406-4A2F-AD25-D93E257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127 signals  •  +0.218% average signed two-session underlying move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9750DD2A-7FC3-4217-BAFA-8D6454CD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143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F39009-B132-4AB6-8BB6-7F2C752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PROFIT FACTOR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A0AAF6-EC97-45C6-98FD-BC2FEB63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1.39 on the 2024–2026 holdout.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DF02056-E7BA-4B0E-AFE2-19CA24B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5143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31E0F8-463A-4C37-A551-6B0BF776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FROZEN RULE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F61DC9-D34F-43A2-AEE6-548B90F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5d ≥3%  •  RV ≤25%  •  reverse  •  hold 2 sessions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9D57874-7F97-46EA-B44C-CF14AD1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10150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2D6FF"/>
          </a:solidFill>
          <a:ln xmlns:a="http://schemas.openxmlformats.org/drawingml/2006/main" w="0">
            <a:solidFill>
              <a:srgbClr val="52D6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CD64F6F-E6A7-47BA-95E7-D5C74FB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62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Underlying score only—not options P&amp;L.</a:t>
            </a:r>
          </a:p>
        </p:txBody>
      </p:sp>
    </p:spTree>
    <p:extLst>
      <p:ext uri="{BB962C8B-B14F-4D97-AF65-F5344CB8AC3E}">
        <p14:creationId xmlns:p14="http://schemas.microsoft.com/office/powerpoint/2010/main" val="1835599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55D33A1-7DBA-4494-921D-4232AA58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THE PROOF PATH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F98DF4-5ABC-4D4D-81CA-2A7A38F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evidence beats a black-box victory claim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F8352D6E-6ED7-41CC-B790-E892115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6FF"/>
          </a:solidFill>
          <a:ln xmlns:a="http://schemas.openxmlformats.org/drawingml/2006/main" w="0">
            <a:solidFill>
              <a:srgbClr val="52D6FF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3B6B32-82E2-43FB-B7E6-9320EDD2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1CD9A4-0300-4767-84CD-D2793150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code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2E1B27-2734-4BD2-9B18-356B572F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rPr>
              <a:t>56 tests  •  strategy  •  risk gates  •  MIT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A091A08C-33DD-41AF-9D40-7795A66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576A"/>
          </a:solidFill>
          <a:ln xmlns:a="http://schemas.openxmlformats.org/drawingml/2006/main" w="0">
            <a:solidFill>
              <a:srgbClr val="42576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D2275F-F838-4B06-AD42-7046DA3A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E4D579-AB76-4E24-BB2F-4A341B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receipts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AC9397-249C-416F-BA36-F2150ED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rPr>
              <a:t>3 fills  •  $825 defined risk  •  paper P&amp;L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A9EBA3B-12A5-4C80-A051-3A3F0BC9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576A"/>
          </a:solidFill>
          <a:ln xmlns:a="http://schemas.openxmlformats.org/drawingml/2006/main" w="0">
            <a:solidFill>
              <a:srgbClr val="42576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02B2AF-7910-455B-9D7D-74E23AD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D8A9059-E4BE-4844-BCC0-92BF86A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Holdout scorecard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86EF48E-D0C6-46E6-9D5A-FA0BEC18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rPr>
              <a:t>127 signals  •  55.9% wins  •  PF 1.39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626FD3-9D57-4CA2-B96B-CE1401C8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Inspect the code. Challenge the claims. Follow the evidence.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498633-286D-4BAB-9807-F288F6F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1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FB1BF"/>
                </a:solidFill>
                <a:latin typeface="Helvetica Neue"/>
                <a:ea typeface="Helvetica Neue"/>
                <a:cs typeface="Helvetica Neue"/>
              </a:rPr>
              <a:t>Research and simulated paper trading only.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1458280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2026-09-03T19:54:53.9000000Z</dcterms:created>
  <dcterms:modified xsi:type="dcterms:W3CDTF">2026-09-03T19:54:53.9000000Z</dcterms:modified>
</coreProperties>
</file>